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456BD-5E50-48F5-8AC1-AE507F4CA32A}" v="1" dt="2026-05-26T20:57:34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k Yılmaz" userId="1e3619fefc543612" providerId="LiveId" clId="{2F5DA0D9-2324-4A47-A4BF-327C88FB28A4}"/>
    <pc:docChg chg="undo custSel modSld">
      <pc:chgData name="Faik Yılmaz" userId="1e3619fefc543612" providerId="LiveId" clId="{2F5DA0D9-2324-4A47-A4BF-327C88FB28A4}" dt="2026-05-28T10:05:08.770" v="34" actId="20577"/>
      <pc:docMkLst>
        <pc:docMk/>
      </pc:docMkLst>
      <pc:sldChg chg="addSp delSp modSp mod">
        <pc:chgData name="Faik Yılmaz" userId="1e3619fefc543612" providerId="LiveId" clId="{2F5DA0D9-2324-4A47-A4BF-327C88FB28A4}" dt="2026-05-26T20:58:46.570" v="19" actId="1076"/>
        <pc:sldMkLst>
          <pc:docMk/>
          <pc:sldMk cId="0" sldId="256"/>
        </pc:sldMkLst>
        <pc:spChg chg="mod">
          <ac:chgData name="Faik Yılmaz" userId="1e3619fefc543612" providerId="LiveId" clId="{2F5DA0D9-2324-4A47-A4BF-327C88FB28A4}" dt="2026-05-26T20:58:41.998" v="1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Faik Yılmaz" userId="1e3619fefc543612" providerId="LiveId" clId="{2F5DA0D9-2324-4A47-A4BF-327C88FB28A4}" dt="2026-05-26T20:57:52.903" v="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Faik Yılmaz" userId="1e3619fefc543612" providerId="LiveId" clId="{2F5DA0D9-2324-4A47-A4BF-327C88FB28A4}" dt="2026-05-26T20:58:09.730" v="1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Faik Yılmaz" userId="1e3619fefc543612" providerId="LiveId" clId="{2F5DA0D9-2324-4A47-A4BF-327C88FB28A4}" dt="2026-05-26T20:58:16.565" v="1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Faik Yılmaz" userId="1e3619fefc543612" providerId="LiveId" clId="{2F5DA0D9-2324-4A47-A4BF-327C88FB28A4}" dt="2026-05-26T20:58:46.570" v="19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Faik Yılmaz" userId="1e3619fefc543612" providerId="LiveId" clId="{2F5DA0D9-2324-4A47-A4BF-327C88FB28A4}" dt="2026-05-26T20:58:35.939" v="16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Faik Yılmaz" userId="1e3619fefc543612" providerId="LiveId" clId="{2F5DA0D9-2324-4A47-A4BF-327C88FB28A4}" dt="2026-05-26T20:58:00.539" v="8" actId="20577"/>
          <ac:spMkLst>
            <pc:docMk/>
            <pc:sldMk cId="0" sldId="256"/>
            <ac:spMk id="17" creationId="{00000000-0000-0000-0000-000000000000}"/>
          </ac:spMkLst>
        </pc:spChg>
        <pc:picChg chg="add mod">
          <ac:chgData name="Faik Yılmaz" userId="1e3619fefc543612" providerId="LiveId" clId="{2F5DA0D9-2324-4A47-A4BF-327C88FB28A4}" dt="2026-05-26T20:57:57.034" v="6" actId="1076"/>
          <ac:picMkLst>
            <pc:docMk/>
            <pc:sldMk cId="0" sldId="256"/>
            <ac:picMk id="20" creationId="{314A9E3F-2D2C-77E7-6CE4-970388D5782B}"/>
          </ac:picMkLst>
        </pc:picChg>
      </pc:sldChg>
      <pc:sldChg chg="modSp mod">
        <pc:chgData name="Faik Yılmaz" userId="1e3619fefc543612" providerId="LiveId" clId="{2F5DA0D9-2324-4A47-A4BF-327C88FB28A4}" dt="2026-05-28T10:05:08.770" v="34" actId="20577"/>
        <pc:sldMkLst>
          <pc:docMk/>
          <pc:sldMk cId="0" sldId="258"/>
        </pc:sldMkLst>
        <pc:spChg chg="mod">
          <ac:chgData name="Faik Yılmaz" userId="1e3619fefc543612" providerId="LiveId" clId="{2F5DA0D9-2324-4A47-A4BF-327C88FB28A4}" dt="2026-05-28T10:05:08.770" v="34" actId="20577"/>
          <ac:spMkLst>
            <pc:docMk/>
            <pc:sldMk cId="0" sldId="258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27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chemeClr val="bg1"/>
          </a:solidFill>
          <a:ln w="12700">
            <a:solidFill>
              <a:srgbClr val="F5F5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6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UNIVERSITY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· Department of Computer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292608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COM2058  ·  FINAL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Travel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31520" y="4343400"/>
            <a:ext cx="640080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database-driven desktop application connecting students, agencies, U.S. employers and housing through a Microsoft SQL Server back-end.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1803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Faik Yılmaz · 23291024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47053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Furkan Duran · 22290579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Can · 23291550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92440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92440" y="5212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</a:t>
            </a:r>
            <a:r>
              <a:rPr lang="tr-TR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2026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006840" y="5806440"/>
            <a:ext cx="201168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092440" y="5943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Department of Computer Engineering</a:t>
            </a:r>
            <a:endParaRPr lang="en-US" sz="1000" dirty="0"/>
          </a:p>
        </p:txBody>
      </p:sp>
      <p:pic>
        <p:nvPicPr>
          <p:cNvPr id="20" name="Resim 1" descr="A logo with text and a circle&#10;&#10;AI-generated content may be incorrect.">
            <a:extLst>
              <a:ext uri="{FF2B5EF4-FFF2-40B4-BE49-F238E27FC236}">
                <a16:creationId xmlns:a16="http://schemas.microsoft.com/office/drawing/2014/main" id="{314A9E3F-2D2C-77E7-6CE4-970388D578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963" y="1454467"/>
            <a:ext cx="2317433" cy="2317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Project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 and Requirements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4290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297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(Tables)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&amp; Referential Integrity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169164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95160" y="169164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Client and SQL Server Connectivity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256032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25603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342900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429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4290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SQL Queries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4297680"/>
            <a:ext cx="6858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95160" y="42976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Work and Travel?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cultural-exchange program coordinated by four parties — and a paperwork challenge.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0312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applicants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2103120" cy="14630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8036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partners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210312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seasonal hirers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566160"/>
            <a:ext cx="2103120" cy="14630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80360" y="4343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near workplace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1783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22860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year, </a:t>
            </a:r>
            <a:r>
              <a:rPr lang="tr-TR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students join the WAT program. Coordination between agencies, U.S. employers and housing providers is traditionally handled with spreadsheets and e-mail — a process that quickly breaks down.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52160" y="44348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relational database backed by Microsoft SQL Server, accessed through a Java Swing desktop client. The schema enforces referential integrity; the client enforces business rules through JDBC transactions.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Functional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requirements that drive the data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students with university e-mail and password.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9067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each student to exactly one agency per WAT season.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8953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69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payment with amount, date and student reference.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28616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928616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974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24865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1:1 visa-process record per student (status, SEVIS, interview date).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0116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employers post multiple distinct job offers.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770632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9360" y="2770632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2816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09067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browse employers and apply through a bridge table.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849624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3849624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37960" y="38953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4169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 job from being filled by more than one student.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928616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4928616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37960" y="4974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524865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personal dashboard: visa, accepted job, assigned housing.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entities, seven named relationships, one bridge.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55" y="1463040"/>
            <a:ext cx="10926384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AGENCY, EMPLOYER, JOB_OFFER, LOCATION and HOUSING are the principal real-world entities. PAYMENT and VISA_PROCESS depend on STUDENT. APPLICATION is the bridge that resolves the many-to-many tie between STUDENT and JOB_OFFER.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Cardinalities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ER diagram to the foreign keys.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—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agency manages many students; a student joins one agency.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student may pay in multiple installments.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VISA_PROCESS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student has exactly one visa record per season.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Applies_To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student may submit several applications.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JOB_OFFER — 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job offer can receive many applications.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— JOB_OFFER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employer publishes multiple positions.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— JOB_OFFER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location may host multiple positions.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— HOUSING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location contains many housing options.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· 9 Tables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principal entity becomes one normalised relation.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AgencyID (PK), AgencyName, ContactEmail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169164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06824" y="169164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43984" y="169164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43984" y="21031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(PK), FirstName, LastName, Major, AgencyID (FK), email, password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02168" y="169164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02168" y="21031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EmployerID (PK), CompanyName, ContactPerson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LocationID (PK), City, State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06824" y="315468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06824" y="315468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43984" y="31546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JOB_OFFER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43984" y="356616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JobID (PK), PositionTitle, HourlyWage, EmployerID (FK), LocationID (FK)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65008" y="315468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65008" y="315468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02168" y="31546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02168" y="356616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HousingID (PK), Address, CostPerWeek, LocationID (FK)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46177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VISA_PROCESS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02920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VisaID (PK), SevisID, InterviewDate, Status, StudentID (FK)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06824" y="461772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06824" y="461772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43984" y="46177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43984" y="502920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PaymentID (PK), Amount, PaymentDate, StudentID (FK)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65008" y="4617720"/>
            <a:ext cx="362102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65008" y="4617720"/>
            <a:ext cx="3621024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02168" y="461772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02168" y="502920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ApplicationID (PK), AppDate, AppStatus, JobType, StudentID (FK), JobID (FK)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Detail · STUDENT and JOB_OFFER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central tables, with primary and foreign keys highlighted.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AGENCY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55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JOB_OFFER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HourlyWage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DECIMAL(5,2)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per 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EMPLOYER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5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5440680"/>
            <a:ext cx="73152" cy="9144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foreign keys on JOB_OFFER?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must belong to a real employer (EmployerID → EMPLOYER) and sit in a real U.S. location (LocationID → LOCATION). These constraints stop orphan rows from sneaking in through the Java client.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&amp; Referential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resolves to an existing parent row.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STUDENT.AgencyID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169164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AGENCY.AgencyID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JOB_OFFER.EmployerID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26880" y="169164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EMPLOYER.EmployerID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JOB_OFFER.LocationID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0" y="246888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LOCATION.LocationID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46888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468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HOUSING.LocationID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26880" y="246888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LOCATION.LocationID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VISA_PROCESS.StudentID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657600" y="324612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STUDENT.StudentID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24612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PAYMENT.StudentID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326880" y="324612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2688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STUDENT.StudentID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APPLICATION.StudentID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657600" y="402336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STUDENT.StudentID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023360"/>
            <a:ext cx="2651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APPLICATION.JobID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6968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26880" y="4023360"/>
            <a:ext cx="21945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2688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JOB_OFFER.JobID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an AGENCY, EMPLOYER or LOCATION while dependent rows exist is rejected by SQL Server — preventing orphan records and inconsistent application state.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+ Java Swing over JDBC.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Express 2022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/ DML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Transact-SQL (T-SQL)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Swing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JDBC Driver for SQL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03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connection string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5394960" cy="224028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URL 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"jdbc:sqlserver://localhost\\SQLEXPRESS:1433;" +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"databaseName=WAT_Student_Management_System;" +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"encrypt=true;" +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"trustServerCertificate=true;";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Class.forName(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"com.microsoft.sqlserver.jdbc.SQLServerDriver");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DriverManager.getConnection(URL, USER, PASS);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4434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800600"/>
            <a:ext cx="1691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7920" y="4800600"/>
            <a:ext cx="16916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4800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51663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windows (MainFrame)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4800600"/>
            <a:ext cx="1691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0" y="4800600"/>
            <a:ext cx="16916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138160" y="51663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POJOs (Student, Employer, JobOffer)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75520" y="4800600"/>
            <a:ext cx="1691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875520" y="4800600"/>
            <a:ext cx="16916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75520" y="4800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66960" y="51663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queries (DatabaseConnection, WAT_Student_Management_System)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states of the client and the underlying SSMS error.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60" y="1691640"/>
            <a:ext cx="28339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· Login screen — 'Server Unavailable' dialog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5440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isServerAvailable() when the JDBC probe times out — UI degrades gracefully instead of crashing.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146" y="1691640"/>
            <a:ext cx="2751229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196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· Personal dashboard after successful login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251960" y="5440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23291550 (Ahmet Can) — visa, job and housing rows pulled live by the five-table LEFT JOIN in Q4.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902662"/>
            <a:ext cx="3657600" cy="8697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100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· SSMS — equivalent server-down error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0" y="5440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Management Studio surfaces the same network/instance error that the client guards against.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· Students With a Pending Visa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of STUDENT and VISA_PROCESS on StudentID.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20040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212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s.StudentID,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s.FirstName,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s.LastName,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v.SevisID,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v.InterviewDate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STUDENT 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VISA_PROCESS v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ON s.StudentID = v.StudentID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v.Status = 'Pending'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v.InterviewDate;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agencies to prepare interview-day briefings and to remind students whose consulate appointment is closest.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Yildiz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22290579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Furkan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N001234568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Gokhan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Arslan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Mustafa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Cetinkaya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23291018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Yavuz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N002000018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· Total Payments per Agency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with SUM and GROUP BY across three tables.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20040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212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a.AgencyName,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s.StudentID) AS NumStudents,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SUM(p.Amount)               AS TotalCollected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AGENCY  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STUDENT s ON s.AgencyID  = a.AgencyID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PAYMENT p ON p.StudentID = s.StudentID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a.AgencyName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TotalCollected DESC;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dashboard: financial overview per agency, surfacing both reach (NumStudents) and revenue (TotalCollected).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NumStudents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TotalCollected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CampusEDU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Vizyon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Armada Grandee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Towers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Westline International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Öztek International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Yurtdışı Eğitim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· Best Hourly Wage in Each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with GROUP BY; helps applicants pick a destination.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92608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212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l.State,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MAX(j.HourlyWage) AS TopWage,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COUNT(j.JobID)    AS NumJobs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JOB_OFFER j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LOCATION  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ON j.LocationID = l.LocationID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l.State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TopWage DESC;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53949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$18.50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hourly wage on offer · Server position, Nashville TN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TopWage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 · Personal Process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Five-table LEFT JOIN that powers the Java client dashboard.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217920" cy="448056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60350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v.Status        AS VisaStatus,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v.InterviewDate,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j.PositionTitle,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j.HourlyWage,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h.Address        AS HousingAddress,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h.CostPerWeek    AS HousingCost,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l.City, l.State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STUDENT 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VISA_PROCESS v ON s.StudentID  = v.StudentID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APPLICATION  a ON s.StudentID  = a.StudentID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JOB_OFFER    j ON a.JobID      = j.JobID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LOCATION     l ON j.LocationID = l.LocationID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HOUSING      h ON l.LocationID = h.LocationID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s.StudentID = 23291550;   -- Ahmet Can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5720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7804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Can  ·  23291550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78040" y="2286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VISA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78040" y="25603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Date: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Scheduled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78040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&amp; WAGE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8040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 Scooper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Wage: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$12.00 / hr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4297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HOUSING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457200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Oceanfront Crew Housing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Rent: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$125.00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Myrtle Beach, SC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5 · Open Positions (NOT EXISTS)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to express the absence of an accepted application.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474720"/>
          </a:xfrm>
          <a:prstGeom prst="rect">
            <a:avLst/>
          </a:prstGeom>
          <a:solidFill>
            <a:srgbClr val="F5F5F3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j.JobID,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j.PositionTitle,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j.HourlyWage,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e.CompanyName,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l.City, l.State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JOB_OFFER j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EMPLOYER e ON j.EmployerID = e.EmployerID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LOCATION l ON j.LocationID = l.LocationID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NOT EXISTS 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1 FROM APPLICATION 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 a.JobID     = j.JobID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 a.AppStatus = 'Accepted'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 BY j.HourlyWage DESC;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employer screen — students see only jobs that have not been claimed yet, and the NOT EXISTS subquery scales cleanly as APPLICATION grows.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open positions (of ≈ 45)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Lobster 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Provincetown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 Cook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Stimulus Coffee + Bakery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 Prep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Lobster 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Provincetown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Desk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Marriott Resort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 &amp; Buster's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Nashville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17920" y="4434840"/>
            <a:ext cx="1691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4526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309360" y="5303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Offers in the system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46720" y="4434840"/>
            <a:ext cx="1691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46720" y="4526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≈45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138160" y="5303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 for application</a:t>
            </a:r>
            <a:endParaRPr lang="en-US" sz="1000" dirty="0"/>
          </a:p>
        </p:txBody>
      </p:sp>
      <p:sp>
        <p:nvSpPr>
          <p:cNvPr id="10" name="Shape 14"/>
          <p:cNvSpPr/>
          <p:nvPr/>
        </p:nvSpPr>
        <p:spPr>
          <a:xfrm>
            <a:off x="9875520" y="4434840"/>
            <a:ext cx="1691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875520" y="4526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9966960" y="5303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accepted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delivered, what we learned, what comes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Management System  ·  COM2058 Database Management Systems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9-table schema on SQL Server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realistic job offers, 25 students, 25 visas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client (login → apply → dashboard)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job-application logic in JDBC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224028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237744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tables (APPLICATION) handle N:M cleanly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catch invalid input before it reaches the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drives a great dashboard query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Server-availability checks make UI resilient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61188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1691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38160" y="2240280"/>
            <a:ext cx="3611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2377440"/>
            <a:ext cx="3246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front-end on Spring Boot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 / student 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Trigger-level enforcement of FR-7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pricing for HOUSING records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3" name="Shape 1"/>
          <p:cNvSpPr/>
          <p:nvPr/>
        </p:nvSpPr>
        <p:spPr>
          <a:xfrm>
            <a:off x="5120640" y="3520440"/>
            <a:ext cx="1920240" cy="7315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Travel Student Management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Faik Yılmaz  ·  Furkan Duran  ·  Ahmet Can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University · Department of Computer Engineering · COM2058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2324</Words>
  <Application>Microsoft Office PowerPoint</Application>
  <PresentationFormat>Widescreen</PresentationFormat>
  <Paragraphs>556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Ankara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 Student Management System – Project Presentation</dc:title>
  <dc:subject>PptxGenJS Presentation</dc:subject>
  <dc:creator>Ahmet Can, Furkan Duran, Faik Yılmaz</dc:creator>
  <cp:lastModifiedBy>Faik Yılmaz</cp:lastModifiedBy>
  <cp:revision>1</cp:revision>
  <dcterms:created xsi:type="dcterms:W3CDTF">2026-05-26T20:42:49Z</dcterms:created>
  <dcterms:modified xsi:type="dcterms:W3CDTF">2026-05-28T10:05:13Z</dcterms:modified>
</cp:coreProperties>
</file>